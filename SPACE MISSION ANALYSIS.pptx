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68B67-AC13-40CC-B28B-82B5FD122A79}"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354098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268B67-AC13-40CC-B28B-82B5FD122A79}"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985365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268B67-AC13-40CC-B28B-82B5FD122A79}"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449169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268B67-AC13-40CC-B28B-82B5FD122A79}"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2067168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268B67-AC13-40CC-B28B-82B5FD122A79}"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254266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268B67-AC13-40CC-B28B-82B5FD122A79}"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540479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268B67-AC13-40CC-B28B-82B5FD122A79}"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885187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268B67-AC13-40CC-B28B-82B5FD122A79}"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3197573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268B67-AC13-40CC-B28B-82B5FD122A79}"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3931727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268B67-AC13-40CC-B28B-82B5FD122A79}"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2185135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268B67-AC13-40CC-B28B-82B5FD122A79}"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F90CE6-9CBF-41DE-9F53-F34DCBEEEDEA}" type="slidenum">
              <a:rPr lang="en-IN" smtClean="0"/>
              <a:t>‹#›</a:t>
            </a:fld>
            <a:endParaRPr lang="en-IN"/>
          </a:p>
        </p:txBody>
      </p:sp>
    </p:spTree>
    <p:extLst>
      <p:ext uri="{BB962C8B-B14F-4D97-AF65-F5344CB8AC3E}">
        <p14:creationId xmlns:p14="http://schemas.microsoft.com/office/powerpoint/2010/main" val="327204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268B67-AC13-40CC-B28B-82B5FD122A79}" type="datetimeFigureOut">
              <a:rPr lang="en-IN" smtClean="0"/>
              <a:t>17-11-2025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90CE6-9CBF-41DE-9F53-F34DCBEEEDEA}" type="slidenum">
              <a:rPr lang="en-IN" smtClean="0"/>
              <a:t>‹#›</a:t>
            </a:fld>
            <a:endParaRPr lang="en-IN"/>
          </a:p>
        </p:txBody>
      </p:sp>
    </p:spTree>
    <p:extLst>
      <p:ext uri="{BB962C8B-B14F-4D97-AF65-F5344CB8AC3E}">
        <p14:creationId xmlns:p14="http://schemas.microsoft.com/office/powerpoint/2010/main" val="268899450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82AE87-37C0-050B-925E-1B8313325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3314" y="489857"/>
            <a:ext cx="5442857" cy="5442857"/>
          </a:xfrm>
          <a:prstGeom prst="rect">
            <a:avLst/>
          </a:prstGeom>
        </p:spPr>
      </p:pic>
      <p:sp>
        <p:nvSpPr>
          <p:cNvPr id="9" name="TextBox 8">
            <a:extLst>
              <a:ext uri="{FF2B5EF4-FFF2-40B4-BE49-F238E27FC236}">
                <a16:creationId xmlns:a16="http://schemas.microsoft.com/office/drawing/2014/main" id="{E2D0D81E-87C7-262D-C100-CCAE71C6A1E3}"/>
              </a:ext>
            </a:extLst>
          </p:cNvPr>
          <p:cNvSpPr txBox="1"/>
          <p:nvPr/>
        </p:nvSpPr>
        <p:spPr>
          <a:xfrm>
            <a:off x="3864429" y="5617029"/>
            <a:ext cx="4114800" cy="461665"/>
          </a:xfrm>
          <a:prstGeom prst="rect">
            <a:avLst/>
          </a:prstGeom>
          <a:noFill/>
          <a:ln>
            <a:solidFill>
              <a:schemeClr val="tx1"/>
            </a:solidFill>
          </a:ln>
        </p:spPr>
        <p:txBody>
          <a:bodyPr wrap="square" rtlCol="0">
            <a:spAutoFit/>
          </a:bodyPr>
          <a:lstStyle/>
          <a:p>
            <a:pPr algn="ctr"/>
            <a:r>
              <a:rPr lang="en-US" sz="2400" b="1" dirty="0">
                <a:solidFill>
                  <a:srgbClr val="C00000"/>
                </a:solidFill>
              </a:rPr>
              <a:t>BY: REVATI PADGILWAR</a:t>
            </a:r>
            <a:endParaRPr lang="en-IN" sz="2400" b="1" dirty="0">
              <a:solidFill>
                <a:srgbClr val="C00000"/>
              </a:solidFill>
            </a:endParaRPr>
          </a:p>
        </p:txBody>
      </p:sp>
    </p:spTree>
    <p:extLst>
      <p:ext uri="{BB962C8B-B14F-4D97-AF65-F5344CB8AC3E}">
        <p14:creationId xmlns:p14="http://schemas.microsoft.com/office/powerpoint/2010/main" val="2591654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3FB128-26DA-F525-5DC7-B97399C73FF5}"/>
              </a:ext>
            </a:extLst>
          </p:cNvPr>
          <p:cNvPicPr>
            <a:picLocks noChangeAspect="1"/>
          </p:cNvPicPr>
          <p:nvPr/>
        </p:nvPicPr>
        <p:blipFill>
          <a:blip r:embed="rId2"/>
          <a:srcRect t="2932"/>
          <a:stretch>
            <a:fillRect/>
          </a:stretch>
        </p:blipFill>
        <p:spPr>
          <a:xfrm>
            <a:off x="6926438" y="1926771"/>
            <a:ext cx="5095871" cy="2939143"/>
          </a:xfrm>
          <a:prstGeom prst="rect">
            <a:avLst/>
          </a:prstGeom>
        </p:spPr>
      </p:pic>
      <p:sp>
        <p:nvSpPr>
          <p:cNvPr id="5" name="TextBox 4">
            <a:extLst>
              <a:ext uri="{FF2B5EF4-FFF2-40B4-BE49-F238E27FC236}">
                <a16:creationId xmlns:a16="http://schemas.microsoft.com/office/drawing/2014/main" id="{EF148A60-2242-9D90-7717-10ED59903F11}"/>
              </a:ext>
            </a:extLst>
          </p:cNvPr>
          <p:cNvSpPr txBox="1"/>
          <p:nvPr/>
        </p:nvSpPr>
        <p:spPr>
          <a:xfrm>
            <a:off x="1377043" y="87086"/>
            <a:ext cx="9437914" cy="523220"/>
          </a:xfrm>
          <a:prstGeom prst="rect">
            <a:avLst/>
          </a:prstGeom>
          <a:noFill/>
          <a:ln>
            <a:solidFill>
              <a:schemeClr val="tx1"/>
            </a:solidFill>
          </a:ln>
        </p:spPr>
        <p:txBody>
          <a:bodyPr wrap="square" rtlCol="0">
            <a:spAutoFit/>
          </a:bodyPr>
          <a:lstStyle/>
          <a:p>
            <a:pPr algn="ctr"/>
            <a:r>
              <a:rPr lang="en-US" sz="2800" b="1" dirty="0">
                <a:solidFill>
                  <a:srgbClr val="C00000"/>
                </a:solidFill>
                <a:cs typeface="Times New Roman" panose="02020603050405020304" pitchFamily="18" charset="0"/>
              </a:rPr>
              <a:t> DISTRIBUTION OF MISSION COST</a:t>
            </a:r>
            <a:endParaRPr lang="en-IN" sz="2800" b="1" dirty="0">
              <a:solidFill>
                <a:srgbClr val="C00000"/>
              </a:solidFill>
              <a:cs typeface="Times New Roman" panose="02020603050405020304" pitchFamily="18" charset="0"/>
            </a:endParaRPr>
          </a:p>
        </p:txBody>
      </p:sp>
      <p:sp>
        <p:nvSpPr>
          <p:cNvPr id="6" name="TextBox 5">
            <a:extLst>
              <a:ext uri="{FF2B5EF4-FFF2-40B4-BE49-F238E27FC236}">
                <a16:creationId xmlns:a16="http://schemas.microsoft.com/office/drawing/2014/main" id="{1C523831-B0D3-5CBC-754D-76CC764C2994}"/>
              </a:ext>
            </a:extLst>
          </p:cNvPr>
          <p:cNvSpPr txBox="1"/>
          <p:nvPr/>
        </p:nvSpPr>
        <p:spPr>
          <a:xfrm>
            <a:off x="169689" y="718458"/>
            <a:ext cx="6437940" cy="6294031"/>
          </a:xfrm>
          <a:prstGeom prst="rect">
            <a:avLst/>
          </a:prstGeom>
          <a:noFill/>
        </p:spPr>
        <p:txBody>
          <a:bodyPr wrap="square" rtlCol="0">
            <a:spAutoFit/>
          </a:bodyPr>
          <a:lstStyle/>
          <a:p>
            <a:pPr algn="just"/>
            <a:r>
              <a:rPr lang="en-US" sz="1550" b="1" dirty="0"/>
              <a:t>Key Insights from Mission Cost Distribution Chart</a:t>
            </a:r>
          </a:p>
          <a:p>
            <a:pPr marL="285750" indent="-285750" algn="just">
              <a:buFont typeface="Arial" panose="020B0604020202020204" pitchFamily="34" charset="0"/>
              <a:buChar char="•"/>
            </a:pPr>
            <a:r>
              <a:rPr lang="en-US" sz="1550" b="1" dirty="0"/>
              <a:t>High Concentration of Low-Cost Missions</a:t>
            </a:r>
          </a:p>
          <a:p>
            <a:pPr algn="just"/>
            <a:r>
              <a:rPr lang="en-US" sz="1550" dirty="0"/>
              <a:t>Most missions fall within the 0–200 cost range, showing that the majority of operations are low-cost and likely standardized, routine activities. This suggests a strong emphasis on efficiency and repeatable mission structures.</a:t>
            </a:r>
          </a:p>
          <a:p>
            <a:pPr marL="285750" indent="-285750" algn="just">
              <a:buFont typeface="Arial" panose="020B0604020202020204" pitchFamily="34" charset="0"/>
              <a:buChar char="•"/>
            </a:pPr>
            <a:r>
              <a:rPr lang="en-US" sz="1550" b="1" dirty="0"/>
              <a:t>Significant Drop in Mid-Range Mission Frequency</a:t>
            </a:r>
          </a:p>
          <a:p>
            <a:pPr algn="just"/>
            <a:r>
              <a:rPr lang="en-US" sz="1550" dirty="0"/>
              <a:t>Missions in the 200–800 cost range occur far less frequently. This indicates that mid-level missions—those requiring moderate resources or complexity—are relatively uncommon within the overall mission portfolio.</a:t>
            </a:r>
          </a:p>
          <a:p>
            <a:pPr marL="285750" indent="-285750" algn="just">
              <a:buFont typeface="Arial" panose="020B0604020202020204" pitchFamily="34" charset="0"/>
              <a:buChar char="•"/>
            </a:pPr>
            <a:r>
              <a:rPr lang="en-US" sz="1550" b="1" dirty="0"/>
              <a:t>Presence of Rare but Extremely High-Cost Missions</a:t>
            </a:r>
          </a:p>
          <a:p>
            <a:pPr algn="just"/>
            <a:r>
              <a:rPr lang="en-US" sz="1550" dirty="0"/>
              <a:t>A few missions have costs around 1000, 1600, and even 5000, standing out as extreme outliers. These represent highly specialized, resource-intensive operations that occur infrequently but likely carry strategic or critical importance.</a:t>
            </a:r>
          </a:p>
          <a:p>
            <a:pPr marL="285750" indent="-285750" algn="just">
              <a:buFont typeface="Arial" panose="020B0604020202020204" pitchFamily="34" charset="0"/>
              <a:buChar char="•"/>
            </a:pPr>
            <a:r>
              <a:rPr lang="en-US" sz="1550" b="1" dirty="0"/>
              <a:t>Strong Skewness in Cost Distribution</a:t>
            </a:r>
          </a:p>
          <a:p>
            <a:pPr algn="just"/>
            <a:r>
              <a:rPr lang="en-US" sz="1550" dirty="0"/>
              <a:t>The overall distribution is heavily right-skewed due to the extremely high-cost missions. This skew suggests that while most missions are inexpensive, a very small number disproportionately impact average cost calculations and budget planning.</a:t>
            </a:r>
          </a:p>
          <a:p>
            <a:pPr marL="285750" indent="-285750" algn="just">
              <a:buFont typeface="Arial" panose="020B0604020202020204" pitchFamily="34" charset="0"/>
              <a:buChar char="•"/>
            </a:pPr>
            <a:r>
              <a:rPr lang="en-US" sz="1550" b="1" dirty="0"/>
              <a:t>Strategic Resource Allocation Insights</a:t>
            </a:r>
          </a:p>
          <a:p>
            <a:pPr algn="just"/>
            <a:r>
              <a:rPr lang="en-US" sz="1550" dirty="0"/>
              <a:t>The dominance of low-cost missions indicates stable and efficient operational planning, while the rare high-cost outliers highlight areas where budgeting must account for occasional large expenditures. Organizations might explore cost optimization for these exceptional missions or plan dedicated funding pools.</a:t>
            </a:r>
          </a:p>
          <a:p>
            <a:pPr algn="just"/>
            <a:endParaRPr lang="en-IN" sz="1550" dirty="0"/>
          </a:p>
        </p:txBody>
      </p:sp>
    </p:spTree>
    <p:extLst>
      <p:ext uri="{BB962C8B-B14F-4D97-AF65-F5344CB8AC3E}">
        <p14:creationId xmlns:p14="http://schemas.microsoft.com/office/powerpoint/2010/main" val="1058414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760848-CB67-9E84-6C44-A1CC19AB7521}"/>
              </a:ext>
            </a:extLst>
          </p:cNvPr>
          <p:cNvSpPr txBox="1"/>
          <p:nvPr/>
        </p:nvSpPr>
        <p:spPr>
          <a:xfrm>
            <a:off x="59873" y="827315"/>
            <a:ext cx="6193970" cy="5816977"/>
          </a:xfrm>
          <a:prstGeom prst="rect">
            <a:avLst/>
          </a:prstGeom>
          <a:noFill/>
        </p:spPr>
        <p:txBody>
          <a:bodyPr wrap="square" rtlCol="0">
            <a:spAutoFit/>
          </a:bodyPr>
          <a:lstStyle/>
          <a:p>
            <a:pPr algn="just"/>
            <a:r>
              <a:rPr lang="en-US" sz="1550" b="1" dirty="0"/>
              <a:t>Key Insights from Mission Cost Outliers Chart</a:t>
            </a:r>
          </a:p>
          <a:p>
            <a:pPr marL="285750" indent="-285750" algn="just">
              <a:buFont typeface="Arial" panose="020B0604020202020204" pitchFamily="34" charset="0"/>
              <a:buChar char="•"/>
            </a:pPr>
            <a:r>
              <a:rPr lang="en-US" sz="1550" b="1" dirty="0"/>
              <a:t>Concentration of Typical Mission Costs</a:t>
            </a:r>
          </a:p>
          <a:p>
            <a:pPr algn="just"/>
            <a:r>
              <a:rPr lang="en-US" sz="1550" dirty="0"/>
              <a:t>The boxplot shows that almost all missions fall within a very tight low-cost range. This indicates that the majority of operations are standardized, predictable, and relatively inexpensive to execute.</a:t>
            </a:r>
          </a:p>
          <a:p>
            <a:pPr marL="285750" indent="-285750" algn="just">
              <a:buFont typeface="Arial" panose="020B0604020202020204" pitchFamily="34" charset="0"/>
              <a:buChar char="•"/>
            </a:pPr>
            <a:r>
              <a:rPr lang="en-US" sz="1550" b="1" dirty="0"/>
              <a:t>Visible High-Cost Outliers</a:t>
            </a:r>
          </a:p>
          <a:p>
            <a:pPr algn="just"/>
            <a:r>
              <a:rPr lang="en-US" sz="1550" dirty="0"/>
              <a:t>Several data points appear far to the right at significantly higher cost levels, marking them as clear outliers. These missions stand out because their costs are dramatically higher than the operational norm.</a:t>
            </a:r>
          </a:p>
          <a:p>
            <a:pPr marL="285750" indent="-285750" algn="just">
              <a:buFont typeface="Arial" panose="020B0604020202020204" pitchFamily="34" charset="0"/>
              <a:buChar char="•"/>
            </a:pPr>
            <a:r>
              <a:rPr lang="en-US" sz="1550" b="1" dirty="0"/>
              <a:t>Large Variance Between Regular Missions and Outliers</a:t>
            </a:r>
          </a:p>
          <a:p>
            <a:pPr algn="just"/>
            <a:r>
              <a:rPr lang="en-US" sz="1550" dirty="0"/>
              <a:t>The wide horizontal spread between the main cluster and the few distant points highlights a large cost variance. This suggests that while routine missions are consistent, the cost of exceptional missions can escalate sharply.</a:t>
            </a:r>
          </a:p>
          <a:p>
            <a:pPr marL="285750" indent="-285750" algn="just">
              <a:buFont typeface="Arial" panose="020B0604020202020204" pitchFamily="34" charset="0"/>
              <a:buChar char="•"/>
            </a:pPr>
            <a:r>
              <a:rPr lang="en-US" sz="1550" b="1" dirty="0"/>
              <a:t>Indicator of Rare but Resource-Intensive Missions</a:t>
            </a:r>
          </a:p>
          <a:p>
            <a:pPr algn="just"/>
            <a:r>
              <a:rPr lang="en-US" sz="1550" dirty="0"/>
              <a:t>The extreme outliers likely represent missions that require unique resources, specialized equipment, or extended timelines. Their location on the plot suggests these are rare events but have substantial financial impact.</a:t>
            </a:r>
          </a:p>
          <a:p>
            <a:pPr marL="285750" indent="-285750" algn="just">
              <a:buFont typeface="Arial" panose="020B0604020202020204" pitchFamily="34" charset="0"/>
              <a:buChar char="•"/>
            </a:pPr>
            <a:r>
              <a:rPr lang="en-US" sz="1550" b="1" dirty="0"/>
              <a:t>Implications for Budget Planning</a:t>
            </a:r>
          </a:p>
          <a:p>
            <a:pPr algn="just"/>
            <a:r>
              <a:rPr lang="en-US" sz="1550" dirty="0"/>
              <a:t>The mix of mostly low-cost missions with a few extremely high-cost ones means budgeting must account for both daily operational stability and occasional high-expense missions. Identifying why these outliers occur can support better forecasting and cost control.</a:t>
            </a:r>
          </a:p>
        </p:txBody>
      </p:sp>
      <p:sp>
        <p:nvSpPr>
          <p:cNvPr id="3" name="TextBox 2">
            <a:extLst>
              <a:ext uri="{FF2B5EF4-FFF2-40B4-BE49-F238E27FC236}">
                <a16:creationId xmlns:a16="http://schemas.microsoft.com/office/drawing/2014/main" id="{AFA60A14-9739-631E-41AD-4E3F35F9BF7F}"/>
              </a:ext>
            </a:extLst>
          </p:cNvPr>
          <p:cNvSpPr txBox="1"/>
          <p:nvPr/>
        </p:nvSpPr>
        <p:spPr>
          <a:xfrm>
            <a:off x="3156858" y="97971"/>
            <a:ext cx="6193970" cy="461665"/>
          </a:xfrm>
          <a:prstGeom prst="rect">
            <a:avLst/>
          </a:prstGeom>
          <a:noFill/>
          <a:ln>
            <a:solidFill>
              <a:schemeClr val="tx1"/>
            </a:solidFill>
          </a:ln>
        </p:spPr>
        <p:txBody>
          <a:bodyPr wrap="square" rtlCol="0">
            <a:spAutoFit/>
          </a:bodyPr>
          <a:lstStyle/>
          <a:p>
            <a:pPr algn="ctr"/>
            <a:r>
              <a:rPr lang="en-US" sz="2400" b="1" dirty="0">
                <a:solidFill>
                  <a:srgbClr val="C00000"/>
                </a:solidFill>
              </a:rPr>
              <a:t>OUTLIERS IN DISTRIBUTION OF MISSION COST</a:t>
            </a:r>
          </a:p>
        </p:txBody>
      </p:sp>
      <p:pic>
        <p:nvPicPr>
          <p:cNvPr id="5" name="Picture 4">
            <a:extLst>
              <a:ext uri="{FF2B5EF4-FFF2-40B4-BE49-F238E27FC236}">
                <a16:creationId xmlns:a16="http://schemas.microsoft.com/office/drawing/2014/main" id="{20E6055B-223E-8C42-CC76-C940A4D72B4C}"/>
              </a:ext>
            </a:extLst>
          </p:cNvPr>
          <p:cNvPicPr>
            <a:picLocks noChangeAspect="1"/>
          </p:cNvPicPr>
          <p:nvPr/>
        </p:nvPicPr>
        <p:blipFill>
          <a:blip r:embed="rId2"/>
          <a:stretch>
            <a:fillRect/>
          </a:stretch>
        </p:blipFill>
        <p:spPr>
          <a:xfrm>
            <a:off x="6572670" y="1277346"/>
            <a:ext cx="5570344" cy="3795397"/>
          </a:xfrm>
          <a:prstGeom prst="rect">
            <a:avLst/>
          </a:prstGeom>
        </p:spPr>
      </p:pic>
    </p:spTree>
    <p:extLst>
      <p:ext uri="{BB962C8B-B14F-4D97-AF65-F5344CB8AC3E}">
        <p14:creationId xmlns:p14="http://schemas.microsoft.com/office/powerpoint/2010/main" val="284075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CDC03D-4CE5-5434-54D2-6BD36569C625}"/>
              </a:ext>
            </a:extLst>
          </p:cNvPr>
          <p:cNvPicPr>
            <a:picLocks noChangeAspect="1"/>
          </p:cNvPicPr>
          <p:nvPr/>
        </p:nvPicPr>
        <p:blipFill>
          <a:blip r:embed="rId2"/>
          <a:stretch>
            <a:fillRect/>
          </a:stretch>
        </p:blipFill>
        <p:spPr>
          <a:xfrm>
            <a:off x="6095649" y="1317172"/>
            <a:ext cx="5942281" cy="3559628"/>
          </a:xfrm>
          <a:prstGeom prst="rect">
            <a:avLst/>
          </a:prstGeom>
        </p:spPr>
      </p:pic>
      <p:sp>
        <p:nvSpPr>
          <p:cNvPr id="4" name="TextBox 3">
            <a:extLst>
              <a:ext uri="{FF2B5EF4-FFF2-40B4-BE49-F238E27FC236}">
                <a16:creationId xmlns:a16="http://schemas.microsoft.com/office/drawing/2014/main" id="{3DD78083-1B46-2C2E-0794-279829CA9096}"/>
              </a:ext>
            </a:extLst>
          </p:cNvPr>
          <p:cNvSpPr txBox="1"/>
          <p:nvPr/>
        </p:nvSpPr>
        <p:spPr>
          <a:xfrm>
            <a:off x="27657" y="914403"/>
            <a:ext cx="6068344" cy="5769427"/>
          </a:xfrm>
          <a:prstGeom prst="rect">
            <a:avLst/>
          </a:prstGeom>
          <a:noFill/>
        </p:spPr>
        <p:txBody>
          <a:bodyPr wrap="square" rtlCol="0">
            <a:spAutoFit/>
          </a:bodyPr>
          <a:lstStyle/>
          <a:p>
            <a:pPr algn="just"/>
            <a:r>
              <a:rPr lang="en-US" sz="1550" b="1" dirty="0"/>
              <a:t>Key Insights from the Bar Plot of Top Companies by Launch Count</a:t>
            </a:r>
          </a:p>
          <a:p>
            <a:pPr marL="285750" indent="-285750" algn="just">
              <a:buFont typeface="Arial" panose="020B0604020202020204" pitchFamily="34" charset="0"/>
              <a:buChar char="•"/>
            </a:pPr>
            <a:r>
              <a:rPr lang="en-US" sz="1550" b="1" dirty="0"/>
              <a:t>RVSN USSR Dominates the Launch Landscape</a:t>
            </a:r>
          </a:p>
          <a:p>
            <a:pPr algn="just"/>
            <a:r>
              <a:rPr lang="en-US" sz="1550" dirty="0"/>
              <a:t>RVSN USSR shows an extremely tall bar </a:t>
            </a:r>
            <a:r>
              <a:rPr lang="en-US" sz="1550" b="1" dirty="0"/>
              <a:t>with over 1,700 launches</a:t>
            </a:r>
            <a:r>
              <a:rPr lang="en-US" sz="1550" dirty="0"/>
              <a:t>, clearly standing out from all other organizations. This indicates a long history of frequent launch activity and a major role in global space operations.</a:t>
            </a:r>
          </a:p>
          <a:p>
            <a:pPr marL="285750" indent="-285750" algn="just">
              <a:buFont typeface="Arial" panose="020B0604020202020204" pitchFamily="34" charset="0"/>
              <a:buChar char="•"/>
            </a:pPr>
            <a:r>
              <a:rPr lang="en-US" sz="1550" b="1" dirty="0"/>
              <a:t>Large Gap Between the Leader and All Other Companies</a:t>
            </a:r>
          </a:p>
          <a:p>
            <a:pPr algn="just"/>
            <a:r>
              <a:rPr lang="en-US" sz="1550" dirty="0"/>
              <a:t>The bar representing RVSN USSR is many times taller than the rest, showing a huge disparity in launch volume. No other organization comes close, highlighting how concentrated launch activity has been historically.</a:t>
            </a:r>
          </a:p>
          <a:p>
            <a:pPr marL="285750" indent="-285750" algn="just">
              <a:buFont typeface="Arial" panose="020B0604020202020204" pitchFamily="34" charset="0"/>
              <a:buChar char="•"/>
            </a:pPr>
            <a:r>
              <a:rPr lang="en-US" sz="1550" b="1" dirty="0"/>
              <a:t>Arianespace, CASC, and General Dynamics Form a Secondary Group</a:t>
            </a:r>
          </a:p>
          <a:p>
            <a:pPr algn="just"/>
            <a:r>
              <a:rPr lang="en-US" sz="1550" dirty="0"/>
              <a:t>These companies have bars around the 250–300 launch range, placing them well below the leader but still showing strong participation in the space sector. Their consistent launch activity likely reflects commercial and international missions.</a:t>
            </a:r>
          </a:p>
          <a:p>
            <a:pPr marL="285750" indent="-285750" algn="just">
              <a:buFont typeface="Arial" panose="020B0604020202020204" pitchFamily="34" charset="0"/>
              <a:buChar char="•"/>
            </a:pPr>
            <a:r>
              <a:rPr lang="en-US" sz="1550" b="1" dirty="0"/>
              <a:t>Moderate Activity from NASA and VKS RF</a:t>
            </a:r>
            <a:endParaRPr lang="en-US" sz="1550" dirty="0"/>
          </a:p>
          <a:p>
            <a:pPr algn="just"/>
            <a:r>
              <a:rPr lang="en-US" sz="1550" dirty="0"/>
              <a:t>Both NASA and VKS RF have bars slightly above 200 launches, putting them in a mid-range category. This level suggests they focus more on mission complexity and scientific goals rather than frequent launches.</a:t>
            </a:r>
          </a:p>
          <a:p>
            <a:pPr marL="285750" indent="-285750" algn="just">
              <a:buFont typeface="Arial" panose="020B0604020202020204" pitchFamily="34" charset="0"/>
              <a:buChar char="•"/>
            </a:pPr>
            <a:r>
              <a:rPr lang="en-US" sz="1550" b="1" dirty="0"/>
              <a:t>Lower but Steady Contributions from ULA, US Air Force, Boeing, and Martin Marietta</a:t>
            </a:r>
          </a:p>
          <a:p>
            <a:pPr algn="just"/>
            <a:r>
              <a:rPr lang="en-US" sz="1550" dirty="0"/>
              <a:t>These organizations show shorter bars, between 120–180 launches. Their smaller launch counts may reflect specialized missions, military priorities, or commercial launches tied to specific contracts.</a:t>
            </a:r>
          </a:p>
        </p:txBody>
      </p:sp>
      <p:sp>
        <p:nvSpPr>
          <p:cNvPr id="5" name="TextBox 4">
            <a:extLst>
              <a:ext uri="{FF2B5EF4-FFF2-40B4-BE49-F238E27FC236}">
                <a16:creationId xmlns:a16="http://schemas.microsoft.com/office/drawing/2014/main" id="{ECC6D524-18DF-BAB3-7BF0-F9B458256829}"/>
              </a:ext>
            </a:extLst>
          </p:cNvPr>
          <p:cNvSpPr txBox="1"/>
          <p:nvPr/>
        </p:nvSpPr>
        <p:spPr>
          <a:xfrm>
            <a:off x="2253343" y="217714"/>
            <a:ext cx="8632371" cy="523220"/>
          </a:xfrm>
          <a:prstGeom prst="rect">
            <a:avLst/>
          </a:prstGeom>
          <a:noFill/>
          <a:ln>
            <a:solidFill>
              <a:schemeClr val="tx1"/>
            </a:solidFill>
          </a:ln>
        </p:spPr>
        <p:txBody>
          <a:bodyPr wrap="square" rtlCol="0">
            <a:spAutoFit/>
          </a:bodyPr>
          <a:lstStyle/>
          <a:p>
            <a:pPr algn="ctr"/>
            <a:r>
              <a:rPr lang="en-US" sz="2800" b="1" dirty="0">
                <a:solidFill>
                  <a:srgbClr val="C00000"/>
                </a:solidFill>
              </a:rPr>
              <a:t>TOP COMPANIES BY LAUNCH COUNT</a:t>
            </a:r>
            <a:endParaRPr lang="en-IN" sz="2800" b="1" dirty="0">
              <a:solidFill>
                <a:srgbClr val="C00000"/>
              </a:solidFill>
            </a:endParaRPr>
          </a:p>
        </p:txBody>
      </p:sp>
    </p:spTree>
    <p:extLst>
      <p:ext uri="{BB962C8B-B14F-4D97-AF65-F5344CB8AC3E}">
        <p14:creationId xmlns:p14="http://schemas.microsoft.com/office/powerpoint/2010/main" val="2642107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E2B965-5F90-8147-B7B2-DBCAC1D9FA48}"/>
              </a:ext>
            </a:extLst>
          </p:cNvPr>
          <p:cNvSpPr txBox="1"/>
          <p:nvPr/>
        </p:nvSpPr>
        <p:spPr>
          <a:xfrm>
            <a:off x="152400" y="1513115"/>
            <a:ext cx="5943599" cy="3908762"/>
          </a:xfrm>
          <a:prstGeom prst="rect">
            <a:avLst/>
          </a:prstGeom>
          <a:noFill/>
        </p:spPr>
        <p:txBody>
          <a:bodyPr wrap="square">
            <a:spAutoFit/>
          </a:bodyPr>
          <a:lstStyle/>
          <a:p>
            <a:pPr algn="just"/>
            <a:r>
              <a:rPr lang="en-US" sz="1550" b="1" dirty="0"/>
              <a:t>Key Insights from Top Space Missions by Launch Count</a:t>
            </a:r>
          </a:p>
          <a:p>
            <a:pPr marL="285750" indent="-285750" algn="just">
              <a:buFont typeface="Arial" panose="020B0604020202020204" pitchFamily="34" charset="0"/>
              <a:buChar char="•"/>
            </a:pPr>
            <a:r>
              <a:rPr lang="en-US" sz="1550" b="1" dirty="0"/>
              <a:t>Baikonur Leads in Launch Activity</a:t>
            </a:r>
          </a:p>
          <a:p>
            <a:pPr algn="just">
              <a:buNone/>
            </a:pPr>
            <a:r>
              <a:rPr lang="en-US" sz="1550" dirty="0"/>
              <a:t>Baikonur’s Site 31/6 shows the highest launch count, proving its strong global importance and long operational history.</a:t>
            </a:r>
          </a:p>
          <a:p>
            <a:pPr marL="285750" indent="-285750" algn="just">
              <a:buFont typeface="Arial" panose="020B0604020202020204" pitchFamily="34" charset="0"/>
              <a:buChar char="•"/>
            </a:pPr>
            <a:r>
              <a:rPr lang="en-US" sz="1550" b="1" dirty="0"/>
              <a:t>Russian Launch Sites Dominate</a:t>
            </a:r>
          </a:p>
          <a:p>
            <a:pPr algn="just">
              <a:buNone/>
            </a:pPr>
            <a:r>
              <a:rPr lang="en-US" sz="1550" dirty="0"/>
              <a:t>Most top positions are occupied by </a:t>
            </a:r>
            <a:r>
              <a:rPr lang="en-US" sz="1550" dirty="0" err="1"/>
              <a:t>Plesetsk</a:t>
            </a:r>
            <a:r>
              <a:rPr lang="en-US" sz="1550" dirty="0"/>
              <a:t> and Baikonur pads, showing Russia’s high-frequency and continuous space mission activity.</a:t>
            </a:r>
          </a:p>
          <a:p>
            <a:pPr marL="285750" indent="-285750" algn="just">
              <a:buFont typeface="Arial" panose="020B0604020202020204" pitchFamily="34" charset="0"/>
              <a:buChar char="•"/>
            </a:pPr>
            <a:r>
              <a:rPr lang="en-US" sz="1550" b="1" dirty="0"/>
              <a:t>Strategic Presence of U.S. and Europe</a:t>
            </a:r>
          </a:p>
          <a:p>
            <a:pPr algn="just">
              <a:buNone/>
            </a:pPr>
            <a:r>
              <a:rPr lang="en-US" sz="1550" dirty="0"/>
              <a:t>Only Kennedy Space Center (USA) and Guiana Space Centre (Europe) appear, indicating fewer but high-value missions compared to Russia.</a:t>
            </a:r>
          </a:p>
          <a:p>
            <a:pPr marL="285750" indent="-285750" algn="just">
              <a:buFont typeface="Arial" panose="020B0604020202020204" pitchFamily="34" charset="0"/>
              <a:buChar char="•"/>
            </a:pPr>
            <a:r>
              <a:rPr lang="en-US" sz="1550" b="1" dirty="0"/>
              <a:t>Clear Launch Density Pattern</a:t>
            </a:r>
          </a:p>
          <a:p>
            <a:pPr algn="just">
              <a:buNone/>
            </a:pPr>
            <a:r>
              <a:rPr lang="en-US" sz="1550" dirty="0"/>
              <a:t>The color gradient reveals that Russian sites handle the highest launch volumes, while international sites show moderate activity.</a:t>
            </a:r>
          </a:p>
          <a:p>
            <a:pPr marL="285750" indent="-285750" algn="just">
              <a:buFont typeface="Arial" panose="020B0604020202020204" pitchFamily="34" charset="0"/>
              <a:buChar char="•"/>
            </a:pPr>
            <a:r>
              <a:rPr lang="en-US" sz="1550" b="1" dirty="0"/>
              <a:t>Strong Legacy of Soviet-Era Infrastructure</a:t>
            </a:r>
          </a:p>
          <a:p>
            <a:pPr algn="just">
              <a:buNone/>
            </a:pPr>
            <a:r>
              <a:rPr lang="en-US" sz="1550" dirty="0"/>
              <a:t>Many top sites are decades old, showing that historic Soviet launch pads remain crucial for current space operations.</a:t>
            </a:r>
          </a:p>
        </p:txBody>
      </p:sp>
      <p:pic>
        <p:nvPicPr>
          <p:cNvPr id="7" name="Picture 6">
            <a:extLst>
              <a:ext uri="{FF2B5EF4-FFF2-40B4-BE49-F238E27FC236}">
                <a16:creationId xmlns:a16="http://schemas.microsoft.com/office/drawing/2014/main" id="{109B1B37-5C31-2D7D-6D25-0F060D3B7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3457" y="1291398"/>
            <a:ext cx="5466517" cy="5295489"/>
          </a:xfrm>
          <a:prstGeom prst="rect">
            <a:avLst/>
          </a:prstGeom>
        </p:spPr>
      </p:pic>
      <p:sp>
        <p:nvSpPr>
          <p:cNvPr id="8" name="TextBox 7">
            <a:extLst>
              <a:ext uri="{FF2B5EF4-FFF2-40B4-BE49-F238E27FC236}">
                <a16:creationId xmlns:a16="http://schemas.microsoft.com/office/drawing/2014/main" id="{2A453864-EE12-6E7E-28FC-E3D17C26F641}"/>
              </a:ext>
            </a:extLst>
          </p:cNvPr>
          <p:cNvSpPr txBox="1"/>
          <p:nvPr/>
        </p:nvSpPr>
        <p:spPr>
          <a:xfrm>
            <a:off x="3114258" y="174171"/>
            <a:ext cx="6878828" cy="523220"/>
          </a:xfrm>
          <a:prstGeom prst="rect">
            <a:avLst/>
          </a:prstGeom>
          <a:noFill/>
          <a:ln>
            <a:solidFill>
              <a:schemeClr val="tx1"/>
            </a:solidFill>
          </a:ln>
        </p:spPr>
        <p:txBody>
          <a:bodyPr wrap="square" rtlCol="0">
            <a:spAutoFit/>
          </a:bodyPr>
          <a:lstStyle/>
          <a:p>
            <a:pPr algn="ctr"/>
            <a:r>
              <a:rPr lang="en-US" sz="2800" b="1" dirty="0">
                <a:solidFill>
                  <a:srgbClr val="C00000"/>
                </a:solidFill>
              </a:rPr>
              <a:t>TOP SPACE MISSIONS BY LAUNCH COUNT</a:t>
            </a:r>
            <a:endParaRPr lang="en-IN" sz="2800" b="1" dirty="0">
              <a:solidFill>
                <a:srgbClr val="C00000"/>
              </a:solidFill>
            </a:endParaRPr>
          </a:p>
        </p:txBody>
      </p:sp>
    </p:spTree>
    <p:extLst>
      <p:ext uri="{BB962C8B-B14F-4D97-AF65-F5344CB8AC3E}">
        <p14:creationId xmlns:p14="http://schemas.microsoft.com/office/powerpoint/2010/main" val="2579496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230452-B1B0-A532-E639-2FEBC2E3E4A1}"/>
              </a:ext>
            </a:extLst>
          </p:cNvPr>
          <p:cNvSpPr txBox="1"/>
          <p:nvPr/>
        </p:nvSpPr>
        <p:spPr>
          <a:xfrm>
            <a:off x="175265" y="1186543"/>
            <a:ext cx="5416636" cy="4985980"/>
          </a:xfrm>
          <a:prstGeom prst="rect">
            <a:avLst/>
          </a:prstGeom>
          <a:noFill/>
        </p:spPr>
        <p:txBody>
          <a:bodyPr wrap="square">
            <a:spAutoFit/>
          </a:bodyPr>
          <a:lstStyle/>
          <a:p>
            <a:pPr algn="just"/>
            <a:r>
              <a:rPr lang="en-US" sz="1550" b="1" dirty="0"/>
              <a:t>Key Insights from Most Frequently Used Rockets</a:t>
            </a:r>
          </a:p>
          <a:p>
            <a:pPr marL="285750" indent="-285750" algn="just">
              <a:buFont typeface="Arial" panose="020B0604020202020204" pitchFamily="34" charset="0"/>
              <a:buChar char="•"/>
            </a:pPr>
            <a:r>
              <a:rPr lang="en-US" sz="1550" b="1" dirty="0"/>
              <a:t>Most Used Rocket: Cosmos-3MRB (BOR-5)</a:t>
            </a:r>
          </a:p>
          <a:p>
            <a:pPr algn="just"/>
            <a:r>
              <a:rPr lang="en-US" sz="1550" dirty="0"/>
              <a:t>Cosmos-3MRB with the BOR-5 Shuttle appears 6 times, showing it was the most reliable and frequently chosen rocket.</a:t>
            </a:r>
          </a:p>
          <a:p>
            <a:pPr marL="285750" indent="-285750" algn="just">
              <a:buFont typeface="Arial" panose="020B0604020202020204" pitchFamily="34" charset="0"/>
              <a:buChar char="•"/>
            </a:pPr>
            <a:r>
              <a:rPr lang="en-US" sz="1550" b="1" dirty="0"/>
              <a:t>High-Frequency Rockets (5 Launches)</a:t>
            </a:r>
          </a:p>
          <a:p>
            <a:pPr algn="just"/>
            <a:r>
              <a:rPr lang="en-US" sz="1550" dirty="0"/>
              <a:t>Lambda-4S, Osumi, Titan IV(402)B, and Titan IIID | KH-11 all show 5 launches, indicating they were consistently used for important satellite and defense missions.</a:t>
            </a:r>
          </a:p>
          <a:p>
            <a:pPr marL="285750" indent="-285750" algn="just">
              <a:buFont typeface="Arial" panose="020B0604020202020204" pitchFamily="34" charset="0"/>
              <a:buChar char="•"/>
            </a:pPr>
            <a:r>
              <a:rPr lang="en-US" sz="1550" b="1" dirty="0"/>
              <a:t>Medium-Use Rockets (4 Launches)</a:t>
            </a:r>
          </a:p>
          <a:p>
            <a:pPr algn="just"/>
            <a:r>
              <a:rPr lang="en-US" sz="1550" dirty="0"/>
              <a:t>Proton K | Block D | Zond, Titan IIID | KH-9, and Cosmos-3MRB (BOR-2) each appear 4 times, suggesting they supported specific programs like lunar tests or reconnaissance missions.</a:t>
            </a:r>
          </a:p>
          <a:p>
            <a:pPr marL="285750" indent="-285750" algn="just">
              <a:buFont typeface="Arial" panose="020B0604020202020204" pitchFamily="34" charset="0"/>
              <a:buChar char="•"/>
            </a:pPr>
            <a:r>
              <a:rPr lang="en-US" sz="1550" b="1" dirty="0"/>
              <a:t>Low-Use Rockets (3 Launches)</a:t>
            </a:r>
          </a:p>
          <a:p>
            <a:pPr algn="just"/>
            <a:r>
              <a:rPr lang="en-US" sz="1550" dirty="0"/>
              <a:t>Safir-1B, Cosmos-3M, Strela-2M, and Cosmos-3MRB (BOR-4) have 3 launches, showing they were used for small-scale, experimental, or limited operations.</a:t>
            </a:r>
          </a:p>
          <a:p>
            <a:pPr marL="285750" indent="-285750" algn="just">
              <a:buFont typeface="Arial" panose="020B0604020202020204" pitchFamily="34" charset="0"/>
              <a:buChar char="•"/>
            </a:pPr>
            <a:r>
              <a:rPr lang="en-US" sz="1550" b="1" dirty="0"/>
              <a:t>Usage Highlighted by Color Gradient</a:t>
            </a:r>
          </a:p>
          <a:p>
            <a:pPr algn="just"/>
            <a:r>
              <a:rPr lang="en-US" sz="1550" dirty="0"/>
              <a:t>Darker bars represent rockets with higher launch counts, while lighter bars show lower usage, making the frequency differences easy to see.</a:t>
            </a:r>
          </a:p>
        </p:txBody>
      </p:sp>
      <p:pic>
        <p:nvPicPr>
          <p:cNvPr id="5" name="Picture 4">
            <a:extLst>
              <a:ext uri="{FF2B5EF4-FFF2-40B4-BE49-F238E27FC236}">
                <a16:creationId xmlns:a16="http://schemas.microsoft.com/office/drawing/2014/main" id="{AC9FFB87-0376-07AA-B8D5-8BF5D564D4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1901" y="1055914"/>
            <a:ext cx="6501034" cy="5105400"/>
          </a:xfrm>
          <a:prstGeom prst="rect">
            <a:avLst/>
          </a:prstGeom>
        </p:spPr>
      </p:pic>
      <p:sp>
        <p:nvSpPr>
          <p:cNvPr id="6" name="TextBox 5">
            <a:extLst>
              <a:ext uri="{FF2B5EF4-FFF2-40B4-BE49-F238E27FC236}">
                <a16:creationId xmlns:a16="http://schemas.microsoft.com/office/drawing/2014/main" id="{5C840799-7587-64AE-48AA-2FC46908BF30}"/>
              </a:ext>
            </a:extLst>
          </p:cNvPr>
          <p:cNvSpPr txBox="1"/>
          <p:nvPr/>
        </p:nvSpPr>
        <p:spPr>
          <a:xfrm>
            <a:off x="2144486" y="141514"/>
            <a:ext cx="7478485" cy="523220"/>
          </a:xfrm>
          <a:prstGeom prst="rect">
            <a:avLst/>
          </a:prstGeom>
          <a:noFill/>
          <a:ln>
            <a:solidFill>
              <a:schemeClr val="tx1"/>
            </a:solidFill>
          </a:ln>
        </p:spPr>
        <p:txBody>
          <a:bodyPr wrap="square" rtlCol="0">
            <a:spAutoFit/>
          </a:bodyPr>
          <a:lstStyle/>
          <a:p>
            <a:pPr algn="ctr"/>
            <a:r>
              <a:rPr lang="en-US" sz="2800" dirty="0">
                <a:solidFill>
                  <a:srgbClr val="C00000"/>
                </a:solidFill>
              </a:rPr>
              <a:t>MOST FREQUENTLY USED ROCKETS</a:t>
            </a:r>
            <a:endParaRPr lang="en-IN" sz="2800" dirty="0">
              <a:solidFill>
                <a:srgbClr val="C00000"/>
              </a:solidFill>
            </a:endParaRPr>
          </a:p>
        </p:txBody>
      </p:sp>
    </p:spTree>
    <p:extLst>
      <p:ext uri="{BB962C8B-B14F-4D97-AF65-F5344CB8AC3E}">
        <p14:creationId xmlns:p14="http://schemas.microsoft.com/office/powerpoint/2010/main" val="3926002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7DE5AB-91AC-7019-BD53-C70421316FED}"/>
              </a:ext>
            </a:extLst>
          </p:cNvPr>
          <p:cNvPicPr>
            <a:picLocks noChangeAspect="1"/>
          </p:cNvPicPr>
          <p:nvPr/>
        </p:nvPicPr>
        <p:blipFill>
          <a:blip r:embed="rId2"/>
          <a:stretch>
            <a:fillRect/>
          </a:stretch>
        </p:blipFill>
        <p:spPr>
          <a:xfrm>
            <a:off x="5519152" y="1461407"/>
            <a:ext cx="6485502" cy="4079422"/>
          </a:xfrm>
          <a:prstGeom prst="rect">
            <a:avLst/>
          </a:prstGeom>
        </p:spPr>
      </p:pic>
      <p:sp>
        <p:nvSpPr>
          <p:cNvPr id="4" name="TextBox 3">
            <a:extLst>
              <a:ext uri="{FF2B5EF4-FFF2-40B4-BE49-F238E27FC236}">
                <a16:creationId xmlns:a16="http://schemas.microsoft.com/office/drawing/2014/main" id="{BCBE182E-CAB0-0434-81E1-D053DDFC3CC8}"/>
              </a:ext>
            </a:extLst>
          </p:cNvPr>
          <p:cNvSpPr txBox="1"/>
          <p:nvPr/>
        </p:nvSpPr>
        <p:spPr>
          <a:xfrm>
            <a:off x="2579914" y="272143"/>
            <a:ext cx="7837715" cy="523220"/>
          </a:xfrm>
          <a:prstGeom prst="rect">
            <a:avLst/>
          </a:prstGeom>
          <a:noFill/>
          <a:ln>
            <a:solidFill>
              <a:schemeClr val="tx1"/>
            </a:solidFill>
          </a:ln>
        </p:spPr>
        <p:txBody>
          <a:bodyPr wrap="square" rtlCol="0">
            <a:spAutoFit/>
          </a:bodyPr>
          <a:lstStyle/>
          <a:p>
            <a:pPr algn="ctr"/>
            <a:r>
              <a:rPr lang="en-US" sz="2800" b="1" dirty="0">
                <a:solidFill>
                  <a:srgbClr val="C00000"/>
                </a:solidFill>
              </a:rPr>
              <a:t>ACTIVE VS INACTIVE ROCKETS</a:t>
            </a:r>
            <a:endParaRPr lang="en-IN" sz="2800" b="1" dirty="0">
              <a:solidFill>
                <a:srgbClr val="C00000"/>
              </a:solidFill>
            </a:endParaRPr>
          </a:p>
        </p:txBody>
      </p:sp>
      <p:sp>
        <p:nvSpPr>
          <p:cNvPr id="5" name="TextBox 4">
            <a:extLst>
              <a:ext uri="{FF2B5EF4-FFF2-40B4-BE49-F238E27FC236}">
                <a16:creationId xmlns:a16="http://schemas.microsoft.com/office/drawing/2014/main" id="{F8B57CA7-AF05-08DF-0110-A8BAA180BAD3}"/>
              </a:ext>
            </a:extLst>
          </p:cNvPr>
          <p:cNvSpPr txBox="1"/>
          <p:nvPr/>
        </p:nvSpPr>
        <p:spPr>
          <a:xfrm>
            <a:off x="187346" y="1007407"/>
            <a:ext cx="5244625" cy="5816977"/>
          </a:xfrm>
          <a:prstGeom prst="rect">
            <a:avLst/>
          </a:prstGeom>
          <a:noFill/>
        </p:spPr>
        <p:txBody>
          <a:bodyPr wrap="square" rtlCol="0">
            <a:spAutoFit/>
          </a:bodyPr>
          <a:lstStyle/>
          <a:p>
            <a:pPr algn="just"/>
            <a:r>
              <a:rPr lang="en-US" sz="1550" b="1" dirty="0"/>
              <a:t>Key Insights from Active VS Inactive Rockets Chart</a:t>
            </a:r>
          </a:p>
          <a:p>
            <a:pPr marL="285750" indent="-285750" algn="just">
              <a:buFont typeface="Arial" panose="020B0604020202020204" pitchFamily="34" charset="0"/>
              <a:buChar char="•"/>
            </a:pPr>
            <a:r>
              <a:rPr lang="en-US" sz="1550" b="1" dirty="0"/>
              <a:t>Dominance of Retired Rockets</a:t>
            </a:r>
          </a:p>
          <a:p>
            <a:pPr algn="just"/>
            <a:r>
              <a:rPr lang="en-US" sz="1550" dirty="0"/>
              <a:t>A total of 3534 rockets are retired, showing that most launch vehicles developed over the years have completed their operational life and are no longer used in modern space missions.</a:t>
            </a:r>
          </a:p>
          <a:p>
            <a:pPr marL="285750" indent="-285750" algn="just">
              <a:buFont typeface="Arial" panose="020B0604020202020204" pitchFamily="34" charset="0"/>
              <a:buChar char="•"/>
            </a:pPr>
            <a:r>
              <a:rPr lang="en-US" sz="1550" b="1" dirty="0"/>
              <a:t>Limited Number of Active Rockets</a:t>
            </a:r>
          </a:p>
          <a:p>
            <a:pPr algn="just"/>
            <a:r>
              <a:rPr lang="en-US" sz="1550" dirty="0"/>
              <a:t>Only 790 rockets remain active, indicating that space agencies currently rely on a much smaller and more efficient set of rockets for ongoing launches.</a:t>
            </a:r>
          </a:p>
          <a:p>
            <a:pPr marL="285750" indent="-285750" algn="just">
              <a:buFont typeface="Arial" panose="020B0604020202020204" pitchFamily="34" charset="0"/>
              <a:buChar char="•"/>
            </a:pPr>
            <a:r>
              <a:rPr lang="en-US" sz="1550" b="1" dirty="0"/>
              <a:t>Continuous Technological Evolution</a:t>
            </a:r>
          </a:p>
          <a:p>
            <a:pPr algn="just"/>
            <a:r>
              <a:rPr lang="en-US" sz="1550" dirty="0"/>
              <a:t>The large gap between retired and active rockets highlights how rapidly technology in the space industry evolves, leading older models to be phased out as new, advanced, and safer rockets emerge.</a:t>
            </a:r>
          </a:p>
          <a:p>
            <a:pPr marL="285750" indent="-285750" algn="just">
              <a:buFont typeface="Arial" panose="020B0604020202020204" pitchFamily="34" charset="0"/>
              <a:buChar char="•"/>
            </a:pPr>
            <a:r>
              <a:rPr lang="en-US" sz="1550" b="1" dirty="0"/>
              <a:t>Active Rockets Represent Modern Standards</a:t>
            </a:r>
          </a:p>
          <a:p>
            <a:pPr algn="just"/>
            <a:r>
              <a:rPr lang="en-US" sz="1550" dirty="0"/>
              <a:t>The relatively small count of active rockets reflects the highly optimized, reusable, and performance-focused systems used today for commercial, scientific, and defense missions.</a:t>
            </a:r>
          </a:p>
          <a:p>
            <a:pPr marL="285750" indent="-285750" algn="just">
              <a:buFont typeface="Arial" panose="020B0604020202020204" pitchFamily="34" charset="0"/>
              <a:buChar char="•"/>
            </a:pPr>
            <a:r>
              <a:rPr lang="en-US" sz="1550" b="1" dirty="0"/>
              <a:t>Retired Rockets Showcase Historical Growth</a:t>
            </a:r>
          </a:p>
          <a:p>
            <a:pPr algn="just"/>
            <a:r>
              <a:rPr lang="en-US" sz="1550" dirty="0"/>
              <a:t>The vast number of retired rockets represents decades of global space advancements, capturing earlier designs, experimental models, and legacy systems that contributed to the development of today’s modern launch vehicles.</a:t>
            </a:r>
          </a:p>
        </p:txBody>
      </p:sp>
    </p:spTree>
    <p:extLst>
      <p:ext uri="{BB962C8B-B14F-4D97-AF65-F5344CB8AC3E}">
        <p14:creationId xmlns:p14="http://schemas.microsoft.com/office/powerpoint/2010/main" val="32432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AE467F-735C-1173-14F1-DE79321F903B}"/>
              </a:ext>
            </a:extLst>
          </p:cNvPr>
          <p:cNvPicPr>
            <a:picLocks noChangeAspect="1"/>
          </p:cNvPicPr>
          <p:nvPr/>
        </p:nvPicPr>
        <p:blipFill>
          <a:blip r:embed="rId2"/>
          <a:stretch>
            <a:fillRect/>
          </a:stretch>
        </p:blipFill>
        <p:spPr>
          <a:xfrm>
            <a:off x="6397112" y="1556657"/>
            <a:ext cx="5659984" cy="3243943"/>
          </a:xfrm>
          <a:prstGeom prst="rect">
            <a:avLst/>
          </a:prstGeom>
        </p:spPr>
      </p:pic>
      <p:sp>
        <p:nvSpPr>
          <p:cNvPr id="5" name="TextBox 4">
            <a:extLst>
              <a:ext uri="{FF2B5EF4-FFF2-40B4-BE49-F238E27FC236}">
                <a16:creationId xmlns:a16="http://schemas.microsoft.com/office/drawing/2014/main" id="{7BF933D3-12C4-3B2B-BE8A-35E015DD76ED}"/>
              </a:ext>
            </a:extLst>
          </p:cNvPr>
          <p:cNvSpPr txBox="1"/>
          <p:nvPr/>
        </p:nvSpPr>
        <p:spPr>
          <a:xfrm>
            <a:off x="134904" y="1088571"/>
            <a:ext cx="6265896" cy="5578450"/>
          </a:xfrm>
          <a:prstGeom prst="rect">
            <a:avLst/>
          </a:prstGeom>
          <a:noFill/>
        </p:spPr>
        <p:txBody>
          <a:bodyPr wrap="square">
            <a:spAutoFit/>
          </a:bodyPr>
          <a:lstStyle/>
          <a:p>
            <a:pPr algn="just"/>
            <a:r>
              <a:rPr lang="en-US" sz="1550" b="1" dirty="0"/>
              <a:t>Key Insights from Most Spend Companies</a:t>
            </a:r>
          </a:p>
          <a:p>
            <a:pPr marL="285750" indent="-285750" algn="just">
              <a:buFont typeface="Arial" panose="020B0604020202020204" pitchFamily="34" charset="0"/>
              <a:buChar char="•"/>
            </a:pPr>
            <a:r>
              <a:rPr lang="en-US" sz="1550" b="1" dirty="0"/>
              <a:t>NASA Leads with the Highest Spending</a:t>
            </a:r>
          </a:p>
          <a:p>
            <a:pPr algn="just">
              <a:buNone/>
            </a:pPr>
            <a:r>
              <a:rPr lang="en-US" sz="1550" dirty="0"/>
              <a:t>NASA spends 375.76, far exceeding all other companies, showing its massive investment in space missions, research, and technology development compared to global competitors.</a:t>
            </a:r>
          </a:p>
          <a:p>
            <a:pPr marL="285750" indent="-285750" algn="just">
              <a:buFont typeface="Arial" panose="020B0604020202020204" pitchFamily="34" charset="0"/>
              <a:buChar char="•"/>
            </a:pPr>
            <a:r>
              <a:rPr lang="en-US" sz="1550" b="1" dirty="0"/>
              <a:t>ULA Holds the Second-Highest Spending</a:t>
            </a:r>
          </a:p>
          <a:p>
            <a:pPr algn="just">
              <a:buNone/>
            </a:pPr>
            <a:r>
              <a:rPr lang="en-US" sz="1550" dirty="0"/>
              <a:t>United Launch Alliance spends 105.7, indicating strong funding for reliable launch services, but still nowhere near NASA’s scale of expenditure.</a:t>
            </a:r>
          </a:p>
          <a:p>
            <a:pPr marL="285750" indent="-285750" algn="just">
              <a:buFont typeface="Arial" panose="020B0604020202020204" pitchFamily="34" charset="0"/>
              <a:buChar char="•"/>
            </a:pPr>
            <a:r>
              <a:rPr lang="en-US" sz="1550" b="1" dirty="0"/>
              <a:t>European and Private Companies Have Moderate Spending</a:t>
            </a:r>
          </a:p>
          <a:p>
            <a:pPr algn="just">
              <a:buNone/>
            </a:pPr>
            <a:r>
              <a:rPr lang="en-US" sz="1550" dirty="0"/>
              <a:t>Arianespace (58.58) and SpaceX (54.44) show mid-range spending levels, reflecting steady but controlled investments focused on cost-effective and commercial launch solutions.</a:t>
            </a:r>
          </a:p>
          <a:p>
            <a:pPr marL="285750" indent="-285750" algn="just">
              <a:buFont typeface="Arial" panose="020B0604020202020204" pitchFamily="34" charset="0"/>
              <a:buChar char="•"/>
            </a:pPr>
            <a:r>
              <a:rPr lang="en-US" sz="1550" b="1" dirty="0"/>
              <a:t>Northrop and MHI Maintain Balanced Budgets</a:t>
            </a:r>
          </a:p>
          <a:p>
            <a:pPr algn="just">
              <a:buNone/>
            </a:pPr>
            <a:r>
              <a:rPr lang="en-US" sz="1550" dirty="0"/>
              <a:t>Northrop (47.35) and MHI (42.05) maintain moderate spending, suggesting a balanced approach between innovation, manufacturing, and mission operations.</a:t>
            </a:r>
          </a:p>
          <a:p>
            <a:pPr marL="285750" indent="-285750" algn="just">
              <a:buFont typeface="Arial" panose="020B0604020202020204" pitchFamily="34" charset="0"/>
              <a:buChar char="•"/>
            </a:pPr>
            <a:r>
              <a:rPr lang="en-US" sz="1550" b="1" dirty="0"/>
              <a:t>Lower Spending by Niche or Specialized Agencies</a:t>
            </a:r>
          </a:p>
          <a:p>
            <a:pPr algn="just">
              <a:buNone/>
            </a:pPr>
            <a:r>
              <a:rPr lang="en-US" sz="1550" dirty="0" err="1"/>
              <a:t>Eurockot</a:t>
            </a:r>
            <a:r>
              <a:rPr lang="en-US" sz="1550" dirty="0"/>
              <a:t>, </a:t>
            </a:r>
            <a:r>
              <a:rPr lang="en-US" sz="1550" dirty="0" err="1"/>
              <a:t>Kosmotras</a:t>
            </a:r>
            <a:r>
              <a:rPr lang="en-US" sz="1550" dirty="0"/>
              <a:t>, ILS, and ISRO (ranging 28–41) spend significantly less, indicating either smaller mission frequency, cost-efficient launch systems, or more limited financial capacity.</a:t>
            </a:r>
          </a:p>
          <a:p>
            <a:pPr marL="285750" indent="-285750" algn="just">
              <a:buFont typeface="Arial" panose="020B0604020202020204" pitchFamily="34" charset="0"/>
              <a:buChar char="•"/>
            </a:pPr>
            <a:r>
              <a:rPr lang="en-US" sz="1550" b="1" dirty="0"/>
              <a:t>Huge Spending Gap Between NASA and Others</a:t>
            </a:r>
          </a:p>
          <a:p>
            <a:pPr algn="just">
              <a:buNone/>
            </a:pPr>
            <a:r>
              <a:rPr lang="en-US" sz="1550" dirty="0"/>
              <a:t>The spending gap between NASA and the next highest spender (ULA) is more than 3×, showing NASA’s dominant role in global space funding.</a:t>
            </a:r>
          </a:p>
        </p:txBody>
      </p:sp>
      <p:sp>
        <p:nvSpPr>
          <p:cNvPr id="6" name="TextBox 5">
            <a:extLst>
              <a:ext uri="{FF2B5EF4-FFF2-40B4-BE49-F238E27FC236}">
                <a16:creationId xmlns:a16="http://schemas.microsoft.com/office/drawing/2014/main" id="{37D5D825-CE1E-4E2C-5C76-DA5BA55D75AC}"/>
              </a:ext>
            </a:extLst>
          </p:cNvPr>
          <p:cNvSpPr txBox="1"/>
          <p:nvPr/>
        </p:nvSpPr>
        <p:spPr>
          <a:xfrm>
            <a:off x="2525486" y="272143"/>
            <a:ext cx="6487885" cy="523220"/>
          </a:xfrm>
          <a:prstGeom prst="rect">
            <a:avLst/>
          </a:prstGeom>
          <a:noFill/>
          <a:ln>
            <a:solidFill>
              <a:schemeClr val="tx1"/>
            </a:solidFill>
          </a:ln>
        </p:spPr>
        <p:txBody>
          <a:bodyPr wrap="square" rtlCol="0">
            <a:spAutoFit/>
          </a:bodyPr>
          <a:lstStyle/>
          <a:p>
            <a:pPr algn="ctr"/>
            <a:r>
              <a:rPr lang="en-US" sz="2800" b="1" dirty="0">
                <a:solidFill>
                  <a:srgbClr val="C00000"/>
                </a:solidFill>
              </a:rPr>
              <a:t>MOST SPEND COMPANIES</a:t>
            </a:r>
          </a:p>
        </p:txBody>
      </p:sp>
    </p:spTree>
    <p:extLst>
      <p:ext uri="{BB962C8B-B14F-4D97-AF65-F5344CB8AC3E}">
        <p14:creationId xmlns:p14="http://schemas.microsoft.com/office/powerpoint/2010/main" val="414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126946-A2A3-CF34-3326-9A9BADAA5BBA}"/>
              </a:ext>
            </a:extLst>
          </p:cNvPr>
          <p:cNvSpPr txBox="1"/>
          <p:nvPr/>
        </p:nvSpPr>
        <p:spPr>
          <a:xfrm>
            <a:off x="2786742" y="228600"/>
            <a:ext cx="6379029" cy="523220"/>
          </a:xfrm>
          <a:prstGeom prst="rect">
            <a:avLst/>
          </a:prstGeom>
          <a:noFill/>
          <a:ln>
            <a:solidFill>
              <a:schemeClr val="tx1"/>
            </a:solidFill>
          </a:ln>
        </p:spPr>
        <p:txBody>
          <a:bodyPr wrap="square" rtlCol="0">
            <a:spAutoFit/>
          </a:bodyPr>
          <a:lstStyle/>
          <a:p>
            <a:pPr algn="ctr"/>
            <a:r>
              <a:rPr lang="en-US" sz="2800" b="1" dirty="0">
                <a:solidFill>
                  <a:srgbClr val="C00000"/>
                </a:solidFill>
              </a:rPr>
              <a:t>MOST EXPENSIVE ROCKETS</a:t>
            </a:r>
            <a:endParaRPr lang="en-IN" sz="2800" b="1" dirty="0">
              <a:solidFill>
                <a:srgbClr val="C00000"/>
              </a:solidFill>
            </a:endParaRPr>
          </a:p>
        </p:txBody>
      </p:sp>
      <p:sp>
        <p:nvSpPr>
          <p:cNvPr id="4" name="TextBox 3">
            <a:extLst>
              <a:ext uri="{FF2B5EF4-FFF2-40B4-BE49-F238E27FC236}">
                <a16:creationId xmlns:a16="http://schemas.microsoft.com/office/drawing/2014/main" id="{D0476F51-9889-6B0B-07DE-D217469293DB}"/>
              </a:ext>
            </a:extLst>
          </p:cNvPr>
          <p:cNvSpPr txBox="1"/>
          <p:nvPr/>
        </p:nvSpPr>
        <p:spPr>
          <a:xfrm>
            <a:off x="152400" y="1050950"/>
            <a:ext cx="6019800" cy="5578450"/>
          </a:xfrm>
          <a:prstGeom prst="rect">
            <a:avLst/>
          </a:prstGeom>
          <a:noFill/>
        </p:spPr>
        <p:txBody>
          <a:bodyPr wrap="square">
            <a:spAutoFit/>
          </a:bodyPr>
          <a:lstStyle/>
          <a:p>
            <a:pPr>
              <a:buNone/>
            </a:pPr>
            <a:r>
              <a:rPr lang="en-US" sz="1550" b="1" dirty="0"/>
              <a:t>Key Insights from Most Expensive Rockets Chart </a:t>
            </a:r>
            <a:endParaRPr lang="en-US" sz="1550" dirty="0"/>
          </a:p>
          <a:p>
            <a:pPr marL="285750" indent="-285750">
              <a:buFont typeface="Arial" panose="020B0604020202020204" pitchFamily="34" charset="0"/>
              <a:buChar char="•"/>
            </a:pPr>
            <a:r>
              <a:rPr lang="en-US" sz="1550" b="1" dirty="0"/>
              <a:t>Energiya Missions Are the Costliest</a:t>
            </a:r>
            <a:br>
              <a:rPr lang="en-US" sz="1550" dirty="0"/>
            </a:br>
            <a:r>
              <a:rPr lang="en-US" sz="1550" dirty="0"/>
              <a:t>Energiya/Buran and Energiya/Polyus are the most expensive rockets, each costing about 5000 units, clearly higher than all others.</a:t>
            </a:r>
          </a:p>
          <a:p>
            <a:pPr marL="285750" indent="-285750">
              <a:buFont typeface="Arial" panose="020B0604020202020204" pitchFamily="34" charset="0"/>
              <a:buChar char="•"/>
            </a:pPr>
            <a:r>
              <a:rPr lang="en-US" sz="1550" b="1" dirty="0"/>
              <a:t>Huge Cost Gap with Saturn V</a:t>
            </a:r>
            <a:br>
              <a:rPr lang="en-US" sz="1550" dirty="0"/>
            </a:br>
            <a:r>
              <a:rPr lang="en-US" sz="1550" dirty="0"/>
              <a:t>Each Energiya launch costs over four times as much as a Saturn V Apollo mission (1160 units), showing how expensive the Soviet shuttle and space-station test flights were.</a:t>
            </a:r>
          </a:p>
          <a:p>
            <a:pPr marL="285750" indent="-285750">
              <a:buFont typeface="Arial" panose="020B0604020202020204" pitchFamily="34" charset="0"/>
              <a:buChar char="•"/>
            </a:pPr>
            <a:r>
              <a:rPr lang="en-US" sz="1550" b="1" dirty="0"/>
              <a:t>Uniform Cost Across Apollo Missions</a:t>
            </a:r>
            <a:br>
              <a:rPr lang="en-US" sz="1550" dirty="0"/>
            </a:br>
            <a:r>
              <a:rPr lang="en-US" sz="1550" dirty="0"/>
              <a:t>All Saturn V missions from Apollo 10 to Apollo 17 have the same cost (1160 units), indicating standardized hardware and operations.</a:t>
            </a:r>
          </a:p>
          <a:p>
            <a:pPr marL="285750" indent="-285750">
              <a:buFont typeface="Arial" panose="020B0604020202020204" pitchFamily="34" charset="0"/>
              <a:buChar char="•"/>
            </a:pPr>
            <a:r>
              <a:rPr lang="en-US" sz="1550" b="1" dirty="0"/>
              <a:t>Economies of Scale in Saturn V Program</a:t>
            </a:r>
            <a:br>
              <a:rPr lang="en-US" sz="1550" dirty="0"/>
            </a:br>
            <a:r>
              <a:rPr lang="en-US" sz="1550" dirty="0"/>
              <a:t>Reusing the same rocket design and infrastructure for multiple Apollo missions likely reduced cost variations and improved per-launch efficiency.</a:t>
            </a:r>
          </a:p>
          <a:p>
            <a:pPr marL="285750" indent="-285750">
              <a:buFont typeface="Arial" panose="020B0604020202020204" pitchFamily="34" charset="0"/>
              <a:buChar char="•"/>
            </a:pPr>
            <a:r>
              <a:rPr lang="en-US" sz="1550" b="1" dirty="0"/>
              <a:t>Energiya as High-Investment, Low-Flight Program</a:t>
            </a:r>
            <a:br>
              <a:rPr lang="en-US" sz="1550" dirty="0"/>
            </a:br>
            <a:r>
              <a:rPr lang="en-US" sz="1550" dirty="0"/>
              <a:t>The very high cost of Energiya suggests heavy R&amp;D and advanced technology spread over very few flights, making each mission extremely expensive.</a:t>
            </a:r>
          </a:p>
          <a:p>
            <a:pPr marL="285750" indent="-285750">
              <a:buFont typeface="Arial" panose="020B0604020202020204" pitchFamily="34" charset="0"/>
              <a:buChar char="•"/>
            </a:pPr>
            <a:r>
              <a:rPr lang="en-US" sz="1550" b="1" dirty="0"/>
              <a:t>Strategic Trade-off for Space Agencies</a:t>
            </a:r>
            <a:br>
              <a:rPr lang="en-US" sz="1550" dirty="0"/>
            </a:br>
            <a:r>
              <a:rPr lang="en-US" sz="1550" dirty="0"/>
              <a:t>The chart highlights a trade-off: cutting-edge but rare systems like Energiya are very costly per launch, while repeated, standardized systems like Saturn V offer better cost efficiency per mission.</a:t>
            </a:r>
          </a:p>
        </p:txBody>
      </p:sp>
      <p:pic>
        <p:nvPicPr>
          <p:cNvPr id="6" name="Picture 5">
            <a:extLst>
              <a:ext uri="{FF2B5EF4-FFF2-40B4-BE49-F238E27FC236}">
                <a16:creationId xmlns:a16="http://schemas.microsoft.com/office/drawing/2014/main" id="{32CC2B48-4E70-4FA1-5748-5D09881B8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1201317"/>
            <a:ext cx="5747656" cy="4210432"/>
          </a:xfrm>
          <a:prstGeom prst="rect">
            <a:avLst/>
          </a:prstGeom>
        </p:spPr>
      </p:pic>
    </p:spTree>
    <p:extLst>
      <p:ext uri="{BB962C8B-B14F-4D97-AF65-F5344CB8AC3E}">
        <p14:creationId xmlns:p14="http://schemas.microsoft.com/office/powerpoint/2010/main" val="2922806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146DF1-1E41-58D7-44CD-7F04697190D4}"/>
              </a:ext>
            </a:extLst>
          </p:cNvPr>
          <p:cNvPicPr>
            <a:picLocks noChangeAspect="1"/>
          </p:cNvPicPr>
          <p:nvPr/>
        </p:nvPicPr>
        <p:blipFill>
          <a:blip r:embed="rId2"/>
          <a:stretch>
            <a:fillRect/>
          </a:stretch>
        </p:blipFill>
        <p:spPr>
          <a:xfrm>
            <a:off x="6563833" y="2039987"/>
            <a:ext cx="5407097" cy="3000099"/>
          </a:xfrm>
          <a:prstGeom prst="rect">
            <a:avLst/>
          </a:prstGeom>
        </p:spPr>
      </p:pic>
      <p:sp>
        <p:nvSpPr>
          <p:cNvPr id="5" name="TextBox 4">
            <a:extLst>
              <a:ext uri="{FF2B5EF4-FFF2-40B4-BE49-F238E27FC236}">
                <a16:creationId xmlns:a16="http://schemas.microsoft.com/office/drawing/2014/main" id="{E557AA70-C66A-085C-1E12-3DA018309B05}"/>
              </a:ext>
            </a:extLst>
          </p:cNvPr>
          <p:cNvSpPr txBox="1"/>
          <p:nvPr/>
        </p:nvSpPr>
        <p:spPr>
          <a:xfrm>
            <a:off x="2710543" y="206828"/>
            <a:ext cx="6770914" cy="523220"/>
          </a:xfrm>
          <a:prstGeom prst="rect">
            <a:avLst/>
          </a:prstGeom>
          <a:noFill/>
          <a:ln>
            <a:solidFill>
              <a:schemeClr val="tx1"/>
            </a:solidFill>
          </a:ln>
        </p:spPr>
        <p:txBody>
          <a:bodyPr wrap="square" rtlCol="0">
            <a:spAutoFit/>
          </a:bodyPr>
          <a:lstStyle/>
          <a:p>
            <a:pPr algn="ctr"/>
            <a:r>
              <a:rPr lang="en-US" sz="2800" b="1" dirty="0">
                <a:solidFill>
                  <a:srgbClr val="C00000"/>
                </a:solidFill>
              </a:rPr>
              <a:t>NUMBER OF SPACE LAUNCHES OVER YEAR</a:t>
            </a:r>
            <a:endParaRPr lang="en-IN" sz="2800" b="1" dirty="0">
              <a:solidFill>
                <a:srgbClr val="C00000"/>
              </a:solidFill>
            </a:endParaRPr>
          </a:p>
        </p:txBody>
      </p:sp>
      <p:sp>
        <p:nvSpPr>
          <p:cNvPr id="7" name="TextBox 6">
            <a:extLst>
              <a:ext uri="{FF2B5EF4-FFF2-40B4-BE49-F238E27FC236}">
                <a16:creationId xmlns:a16="http://schemas.microsoft.com/office/drawing/2014/main" id="{27704573-0796-3B7A-F1B9-324ACE2591F6}"/>
              </a:ext>
            </a:extLst>
          </p:cNvPr>
          <p:cNvSpPr txBox="1"/>
          <p:nvPr/>
        </p:nvSpPr>
        <p:spPr>
          <a:xfrm>
            <a:off x="76776" y="834195"/>
            <a:ext cx="6465538" cy="5816977"/>
          </a:xfrm>
          <a:prstGeom prst="rect">
            <a:avLst/>
          </a:prstGeom>
          <a:noFill/>
        </p:spPr>
        <p:txBody>
          <a:bodyPr wrap="square">
            <a:spAutoFit/>
          </a:bodyPr>
          <a:lstStyle/>
          <a:p>
            <a:pPr>
              <a:buNone/>
            </a:pPr>
            <a:r>
              <a:rPr lang="en-US" sz="1550" b="1" dirty="0"/>
              <a:t>Key Insights from Number of Space Launches Over Year Line Chart</a:t>
            </a:r>
            <a:endParaRPr lang="en-US" sz="1550" dirty="0"/>
          </a:p>
          <a:p>
            <a:pPr>
              <a:buFont typeface="+mj-lt"/>
              <a:buAutoNum type="arabicPeriod"/>
            </a:pPr>
            <a:r>
              <a:rPr lang="en-US" sz="1550" b="1" dirty="0"/>
              <a:t>Rapid Growth in the 1960s</a:t>
            </a:r>
            <a:br>
              <a:rPr lang="en-US" sz="1550" dirty="0"/>
            </a:br>
            <a:r>
              <a:rPr lang="en-US" sz="1550" dirty="0"/>
              <a:t>From the late 1950s to the mid-1960s, the number of launches rises sharply, reflecting the early Space Race and intense competition between superpowers to reach orbit and the Moon.</a:t>
            </a:r>
          </a:p>
          <a:p>
            <a:pPr>
              <a:buFont typeface="+mj-lt"/>
              <a:buAutoNum type="arabicPeriod"/>
            </a:pPr>
            <a:r>
              <a:rPr lang="en-US" sz="1550" b="1" dirty="0"/>
              <a:t>Peak Activity Around Late 1960s–Early 1970s</a:t>
            </a:r>
            <a:br>
              <a:rPr lang="en-US" sz="1550" dirty="0"/>
            </a:br>
            <a:r>
              <a:rPr lang="en-US" sz="1550" dirty="0"/>
              <a:t>Launches reach very high counts close to 120 per year around 1967–1972, showing the peak investment period with multiple lunar, planetary, and military missions.</a:t>
            </a:r>
          </a:p>
          <a:p>
            <a:pPr>
              <a:buFont typeface="+mj-lt"/>
              <a:buAutoNum type="arabicPeriod"/>
            </a:pPr>
            <a:r>
              <a:rPr lang="en-US" sz="1550" b="1" dirty="0"/>
              <a:t>Decline After the Early 1970s</a:t>
            </a:r>
            <a:br>
              <a:rPr lang="en-US" sz="1550" dirty="0"/>
            </a:br>
            <a:r>
              <a:rPr lang="en-US" sz="1550" dirty="0"/>
              <a:t>After this peak, the number of launches drops noticeably in the mid- to late-1970s and early 1980s, likely due to budget cuts, program completions (e.g., Apollo), and shifts in priorities.</a:t>
            </a:r>
          </a:p>
          <a:p>
            <a:pPr>
              <a:buFont typeface="+mj-lt"/>
              <a:buAutoNum type="arabicPeriod"/>
            </a:pPr>
            <a:r>
              <a:rPr lang="en-US" sz="1550" b="1" dirty="0"/>
              <a:t>Moderate and Fluctuating Activity (1980s–2000s)</a:t>
            </a:r>
            <a:br>
              <a:rPr lang="en-US" sz="1550" dirty="0"/>
            </a:br>
            <a:r>
              <a:rPr lang="en-US" sz="1550" dirty="0"/>
              <a:t>Between the 1980s and early 2000s, launches remain moderate (roughly 50–80 per year) with fluctuations, indicating a more stable but less aggressive pace of space activity.</a:t>
            </a:r>
          </a:p>
          <a:p>
            <a:pPr>
              <a:buFont typeface="+mj-lt"/>
              <a:buAutoNum type="arabicPeriod"/>
            </a:pPr>
            <a:r>
              <a:rPr lang="en-US" sz="1550" b="1" dirty="0"/>
              <a:t>Temporary Dip Around Early 2000s</a:t>
            </a:r>
            <a:br>
              <a:rPr lang="en-US" sz="1550" dirty="0"/>
            </a:br>
            <a:r>
              <a:rPr lang="en-US" sz="1550" dirty="0"/>
              <a:t>There is a visible dip in the early 2000s, suggesting a slowdown possibly linked to economic factors, accidents, or restructuring of major space programs.</a:t>
            </a:r>
          </a:p>
          <a:p>
            <a:pPr>
              <a:buFont typeface="+mj-lt"/>
              <a:buAutoNum type="arabicPeriod"/>
            </a:pPr>
            <a:r>
              <a:rPr lang="en-US" sz="1550" b="1" dirty="0"/>
              <a:t>Strong Resurgence After 2010</a:t>
            </a:r>
            <a:br>
              <a:rPr lang="en-US" sz="1550" dirty="0"/>
            </a:br>
            <a:r>
              <a:rPr lang="en-US" sz="1550" dirty="0"/>
              <a:t>From around 2010 onward, launches climb again, reaching levels above 100 per year by the late 2010s, reflecting renewed global interest, commercialization of space, and the rise of private launch providers.</a:t>
            </a:r>
          </a:p>
        </p:txBody>
      </p:sp>
    </p:spTree>
    <p:extLst>
      <p:ext uri="{BB962C8B-B14F-4D97-AF65-F5344CB8AC3E}">
        <p14:creationId xmlns:p14="http://schemas.microsoft.com/office/powerpoint/2010/main" val="2261318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7EF187-F364-D31F-F919-3CF1D4E287F4}"/>
              </a:ext>
            </a:extLst>
          </p:cNvPr>
          <p:cNvPicPr>
            <a:picLocks noChangeAspect="1"/>
          </p:cNvPicPr>
          <p:nvPr/>
        </p:nvPicPr>
        <p:blipFill>
          <a:blip r:embed="rId2"/>
          <a:stretch>
            <a:fillRect/>
          </a:stretch>
        </p:blipFill>
        <p:spPr>
          <a:xfrm>
            <a:off x="631372" y="1730034"/>
            <a:ext cx="11172548" cy="3865223"/>
          </a:xfrm>
          <a:prstGeom prst="rect">
            <a:avLst/>
          </a:prstGeom>
        </p:spPr>
      </p:pic>
      <p:sp>
        <p:nvSpPr>
          <p:cNvPr id="4" name="TextBox 3">
            <a:extLst>
              <a:ext uri="{FF2B5EF4-FFF2-40B4-BE49-F238E27FC236}">
                <a16:creationId xmlns:a16="http://schemas.microsoft.com/office/drawing/2014/main" id="{E5D2F526-E59B-1CD9-179F-A06A15AE6E9C}"/>
              </a:ext>
            </a:extLst>
          </p:cNvPr>
          <p:cNvSpPr txBox="1"/>
          <p:nvPr/>
        </p:nvSpPr>
        <p:spPr>
          <a:xfrm>
            <a:off x="1447800" y="424543"/>
            <a:ext cx="8294914" cy="523220"/>
          </a:xfrm>
          <a:prstGeom prst="rect">
            <a:avLst/>
          </a:prstGeom>
          <a:noFill/>
          <a:ln>
            <a:solidFill>
              <a:schemeClr val="tx1"/>
            </a:solidFill>
          </a:ln>
        </p:spPr>
        <p:txBody>
          <a:bodyPr wrap="square" rtlCol="0">
            <a:spAutoFit/>
          </a:bodyPr>
          <a:lstStyle/>
          <a:p>
            <a:pPr algn="ctr"/>
            <a:r>
              <a:rPr lang="en-US" sz="2800" b="1" dirty="0">
                <a:solidFill>
                  <a:srgbClr val="C00000"/>
                </a:solidFill>
              </a:rPr>
              <a:t>MISSION OUTCOMES OVER YEAR</a:t>
            </a:r>
            <a:endParaRPr lang="en-IN" sz="2800" b="1" dirty="0">
              <a:solidFill>
                <a:srgbClr val="C00000"/>
              </a:solidFill>
            </a:endParaRPr>
          </a:p>
        </p:txBody>
      </p:sp>
    </p:spTree>
    <p:extLst>
      <p:ext uri="{BB962C8B-B14F-4D97-AF65-F5344CB8AC3E}">
        <p14:creationId xmlns:p14="http://schemas.microsoft.com/office/powerpoint/2010/main" val="2062203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9ED00B-D279-DAF4-9FF8-132B3F26FCF2}"/>
              </a:ext>
            </a:extLst>
          </p:cNvPr>
          <p:cNvSpPr txBox="1"/>
          <p:nvPr/>
        </p:nvSpPr>
        <p:spPr>
          <a:xfrm>
            <a:off x="239484" y="811135"/>
            <a:ext cx="11168743" cy="4624343"/>
          </a:xfrm>
          <a:prstGeom prst="rect">
            <a:avLst/>
          </a:prstGeom>
          <a:noFill/>
        </p:spPr>
        <p:txBody>
          <a:bodyPr wrap="square">
            <a:spAutoFit/>
          </a:bodyPr>
          <a:lstStyle/>
          <a:p>
            <a:pPr>
              <a:buNone/>
            </a:pPr>
            <a:r>
              <a:rPr lang="en-US" sz="1550" b="1" dirty="0"/>
              <a:t>Key Insights from Mission Outcomes Over Year Chart</a:t>
            </a:r>
            <a:endParaRPr lang="en-US" sz="1550" dirty="0"/>
          </a:p>
          <a:p>
            <a:pPr marL="285750" indent="-285750">
              <a:buFont typeface="Arial" panose="020B0604020202020204" pitchFamily="34" charset="0"/>
              <a:buChar char="•"/>
            </a:pPr>
            <a:r>
              <a:rPr lang="en-US" sz="1550" b="1" dirty="0"/>
              <a:t>Strong Growth in Successful Missions</a:t>
            </a:r>
            <a:br>
              <a:rPr lang="en-US" sz="1550" dirty="0"/>
            </a:br>
            <a:r>
              <a:rPr lang="en-US" sz="1550" dirty="0"/>
              <a:t>Successful missions increase sharply from the late 1950s, peaking around the late 1960s–1970s and again after 2015, showing major improvements and renewed activity in space programs.</a:t>
            </a:r>
          </a:p>
          <a:p>
            <a:pPr marL="285750" indent="-285750">
              <a:buFont typeface="Arial" panose="020B0604020202020204" pitchFamily="34" charset="0"/>
              <a:buChar char="•"/>
            </a:pPr>
            <a:r>
              <a:rPr lang="en-US" sz="1550" b="1" dirty="0"/>
              <a:t>Failure Counts Decrease Over Time</a:t>
            </a:r>
            <a:br>
              <a:rPr lang="en-US" sz="1550" dirty="0"/>
            </a:br>
            <a:r>
              <a:rPr lang="en-US" sz="1550" dirty="0"/>
              <a:t>Mission failures are relatively high in the early years but gradually drop to low single digits later, indicating better technology, testing, and operational experience.</a:t>
            </a:r>
          </a:p>
          <a:p>
            <a:pPr marL="285750" indent="-285750">
              <a:buFont typeface="Arial" panose="020B0604020202020204" pitchFamily="34" charset="0"/>
              <a:buChar char="•"/>
            </a:pPr>
            <a:r>
              <a:rPr lang="en-US" sz="1550" b="1" dirty="0"/>
              <a:t>Partial Failures Remain Limited</a:t>
            </a:r>
            <a:br>
              <a:rPr lang="en-US" sz="1550" dirty="0"/>
            </a:br>
            <a:r>
              <a:rPr lang="en-US" sz="1550" dirty="0"/>
              <a:t>Partial failures stay low across most years, suggesting that when problems occur, missions are typically classified clearly as success or failure rather than mixed outcomes.</a:t>
            </a:r>
          </a:p>
          <a:p>
            <a:pPr marL="285750" indent="-285750">
              <a:buFont typeface="Arial" panose="020B0604020202020204" pitchFamily="34" charset="0"/>
              <a:buChar char="•"/>
            </a:pPr>
            <a:r>
              <a:rPr lang="en-US" sz="1550" b="1" dirty="0"/>
              <a:t>Prelaunch Failures Are Rare</a:t>
            </a:r>
            <a:br>
              <a:rPr lang="en-US" sz="1550" dirty="0"/>
            </a:br>
            <a:r>
              <a:rPr lang="en-US" sz="1550" dirty="0"/>
              <a:t>Prelaunch failures (issues before liftoff) appear only in very small numbers, showing that ground checks and safety procedures are largely effective.</a:t>
            </a:r>
          </a:p>
          <a:p>
            <a:pPr marL="285750" indent="-285750">
              <a:buFont typeface="Arial" panose="020B0604020202020204" pitchFamily="34" charset="0"/>
              <a:buChar char="•"/>
            </a:pPr>
            <a:r>
              <a:rPr lang="en-US" sz="1550" b="1" dirty="0"/>
              <a:t>High Success Rate in Recent Years</a:t>
            </a:r>
            <a:br>
              <a:rPr lang="en-US" sz="1550" dirty="0"/>
            </a:br>
            <a:r>
              <a:rPr lang="en-US" sz="1550" dirty="0"/>
              <a:t>In the 2010s, successful missions rise sharply while failures remain low, reflecting modern reliability and the impact of advanced systems and private space companies.</a:t>
            </a:r>
          </a:p>
          <a:p>
            <a:pPr marL="285750" indent="-285750">
              <a:buFont typeface="Arial" panose="020B0604020202020204" pitchFamily="34" charset="0"/>
              <a:buChar char="•"/>
            </a:pPr>
            <a:r>
              <a:rPr lang="en-US" sz="1550" b="1" dirty="0"/>
              <a:t>Overall Trend Toward Reliability</a:t>
            </a:r>
            <a:br>
              <a:rPr lang="en-US" sz="1550" dirty="0"/>
            </a:br>
            <a:r>
              <a:rPr lang="en-US" sz="1550" dirty="0"/>
              <a:t>Comparing the early space race era to recent years, the chart shows a clear long-term shift from frequent failures to predominantly successful missions, highlighting continuous improvement in space technology and management.</a:t>
            </a:r>
          </a:p>
        </p:txBody>
      </p:sp>
    </p:spTree>
    <p:extLst>
      <p:ext uri="{BB962C8B-B14F-4D97-AF65-F5344CB8AC3E}">
        <p14:creationId xmlns:p14="http://schemas.microsoft.com/office/powerpoint/2010/main" val="7277314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1214</TotalTime>
  <Words>2097</Words>
  <Application>Microsoft Office PowerPoint</Application>
  <PresentationFormat>Widescreen</PresentationFormat>
  <Paragraphs>111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Revati Padgilwar</dc:creator>
  <cp:lastModifiedBy>Revati Padgilwar</cp:lastModifiedBy>
  <cp:revision>2</cp:revision>
  <dcterms:created xsi:type="dcterms:W3CDTF">2025-11-16T16:29:34Z</dcterms:created>
  <dcterms:modified xsi:type="dcterms:W3CDTF">2025-11-17T12:46:42Z</dcterms:modified>
</cp:coreProperties>
</file>